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3688638b2c425c" /><Relationship Type="http://schemas.openxmlformats.org/officeDocument/2006/relationships/extended-properties" Target="/docProps/app.xml" Id="R80c5d0af561d4fa7" /><Relationship Type="http://schemas.openxmlformats.org/officeDocument/2006/relationships/officeDocument" Target="/ppt/presentation.xml" Id="R56c241ff06d440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72e6d07d7e41b5"/>
  </p:sldMasterIdLst>
  <p:notesMasterIdLst>
    <p:notesMasterId xmlns:r="http://schemas.openxmlformats.org/officeDocument/2006/relationships" r:id="Rbee1809becdf406b"/>
  </p:notesMasterIdLst>
  <p:sldIdLst>
    <p:sldId xmlns:r="http://schemas.openxmlformats.org/officeDocument/2006/relationships" id="256" r:id="R009a56ac6abf4a9b"/>
    <p:sldId xmlns:r="http://schemas.openxmlformats.org/officeDocument/2006/relationships" id="257" r:id="Rc4a7bc74e0dc49fd"/>
    <p:sldId xmlns:r="http://schemas.openxmlformats.org/officeDocument/2006/relationships" id="258" r:id="R70480c51032b4863"/>
    <p:sldId xmlns:r="http://schemas.openxmlformats.org/officeDocument/2006/relationships" id="259" r:id="R24757a6aeeba44ad"/>
    <p:sldId xmlns:r="http://schemas.openxmlformats.org/officeDocument/2006/relationships" id="260" r:id="R1c38b8cf1ac5453a"/>
    <p:sldId xmlns:r="http://schemas.openxmlformats.org/officeDocument/2006/relationships" id="261" r:id="R4e63c278229b437b"/>
    <p:sldId xmlns:r="http://schemas.openxmlformats.org/officeDocument/2006/relationships" id="262" r:id="Rd3210e695b85417b"/>
    <p:sldId xmlns:r="http://schemas.openxmlformats.org/officeDocument/2006/relationships" id="263" r:id="Rb1c862726c2c420c"/>
    <p:sldId xmlns:r="http://schemas.openxmlformats.org/officeDocument/2006/relationships" id="264" r:id="R9f088c35629a44de"/>
    <p:sldId xmlns:r="http://schemas.openxmlformats.org/officeDocument/2006/relationships" id="265" r:id="Rf7d7c0b0866e434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fb4186965c49de" /><Relationship Type="http://schemas.openxmlformats.org/officeDocument/2006/relationships/slideMaster" Target="/ppt/slideMasters/slideMaster1.xml" Id="R2b72e6d07d7e41b5" /><Relationship Type="http://schemas.openxmlformats.org/officeDocument/2006/relationships/notesMaster" Target="/ppt/notesMasters/notesMaster1.xml" Id="Rbee1809becdf406b" /><Relationship Type="http://schemas.openxmlformats.org/officeDocument/2006/relationships/presProps" Target="/ppt/presProps.xml" Id="R042ecc03c4d541f8" /><Relationship Type="http://schemas.openxmlformats.org/officeDocument/2006/relationships/viewProps" Target="/ppt/viewProps.xml" Id="R0d56e0d783ce4e30" /><Relationship Type="http://schemas.openxmlformats.org/officeDocument/2006/relationships/tableStyles" Target="/ppt/tableStyles.xml" Id="R1fa63a5d28b8473a" /><Relationship Type="http://schemas.openxmlformats.org/officeDocument/2006/relationships/slide" Target="/ppt/slides/slide1.xml" Id="R009a56ac6abf4a9b" /><Relationship Type="http://schemas.openxmlformats.org/officeDocument/2006/relationships/slide" Target="/ppt/slides/slide2.xml" Id="Rc4a7bc74e0dc49fd" /><Relationship Type="http://schemas.openxmlformats.org/officeDocument/2006/relationships/slide" Target="/ppt/slides/slide3.xml" Id="R70480c51032b4863" /><Relationship Type="http://schemas.openxmlformats.org/officeDocument/2006/relationships/slide" Target="/ppt/slides/slide4.xml" Id="R24757a6aeeba44ad" /><Relationship Type="http://schemas.openxmlformats.org/officeDocument/2006/relationships/slide" Target="/ppt/slides/slide5.xml" Id="R1c38b8cf1ac5453a" /><Relationship Type="http://schemas.openxmlformats.org/officeDocument/2006/relationships/slide" Target="/ppt/slides/slide6.xml" Id="R4e63c278229b437b" /><Relationship Type="http://schemas.openxmlformats.org/officeDocument/2006/relationships/slide" Target="/ppt/slides/slide7.xml" Id="Rd3210e695b85417b" /><Relationship Type="http://schemas.openxmlformats.org/officeDocument/2006/relationships/slide" Target="/ppt/slides/slide8.xml" Id="Rb1c862726c2c420c" /><Relationship Type="http://schemas.openxmlformats.org/officeDocument/2006/relationships/slide" Target="/ppt/slides/slide9.xml" Id="R9f088c35629a44de" /><Relationship Type="http://schemas.openxmlformats.org/officeDocument/2006/relationships/slide" Target="/ppt/slides/slide10.xml" Id="Rf7d7c0b0866e43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a6380144324e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fdddd9b48d426d" /><Relationship Type="http://schemas.openxmlformats.org/officeDocument/2006/relationships/notesMaster" Target="/ppt/notesMasters/notesMaster1.xml" Id="R72ec0cc8355340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46560121e04ea0" /><Relationship Type="http://schemas.openxmlformats.org/officeDocument/2006/relationships/notesMaster" Target="/ppt/notesMasters/notesMaster1.xml" Id="Rb2d6c163f2b84d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b2efd19e4d43da" /><Relationship Type="http://schemas.openxmlformats.org/officeDocument/2006/relationships/notesMaster" Target="/ppt/notesMasters/notesMaster1.xml" Id="R34d3ce245eca4b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f04125c0f742c5" /><Relationship Type="http://schemas.openxmlformats.org/officeDocument/2006/relationships/notesMaster" Target="/ppt/notesMasters/notesMaster1.xml" Id="R2741847e30574b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e89d9c846c4e88" /><Relationship Type="http://schemas.openxmlformats.org/officeDocument/2006/relationships/notesMaster" Target="/ppt/notesMasters/notesMaster1.xml" Id="R7d726145237542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1f5406a1394475" /><Relationship Type="http://schemas.openxmlformats.org/officeDocument/2006/relationships/notesMaster" Target="/ppt/notesMasters/notesMaster1.xml" Id="Rdfe87c268b754c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91d98ac3f34839" /><Relationship Type="http://schemas.openxmlformats.org/officeDocument/2006/relationships/notesMaster" Target="/ppt/notesMasters/notesMaster1.xml" Id="Rfb379d11dee141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bd1d2bc4034159" /><Relationship Type="http://schemas.openxmlformats.org/officeDocument/2006/relationships/notesMaster" Target="/ppt/notesMasters/notesMaster1.xml" Id="R34fbcb25767b4e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a451de15d74c46" /><Relationship Type="http://schemas.openxmlformats.org/officeDocument/2006/relationships/notesMaster" Target="/ppt/notesMasters/notesMaster1.xml" Id="Rae02aeebeab348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dcbb307baa40fd" /><Relationship Type="http://schemas.openxmlformats.org/officeDocument/2006/relationships/notesMaster" Target="/ppt/notesMasters/notesMaster1.xml" Id="R8eb8f9e0c82248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3e6ed78e4b4b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a92dda389f47a4" /><Relationship Type="http://schemas.openxmlformats.org/officeDocument/2006/relationships/slideLayout" Target="/ppt/slideLayouts/slideLayout1.xml" Id="Rb38a1dde02e843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8a1dde02e843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fb14a431640b9" /><Relationship Type="http://schemas.openxmlformats.org/officeDocument/2006/relationships/image" Target="/ppt/media/image.png" Id="Rd85c37756212403d" /><Relationship Type="http://schemas.openxmlformats.org/officeDocument/2006/relationships/notesSlide" Target="/ppt/notesSlides/notesSlide1.xml" Id="Ra71cc85ab88b40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45d7811bc40a2" /><Relationship Type="http://schemas.openxmlformats.org/officeDocument/2006/relationships/notesSlide" Target="/ppt/notesSlides/notesSlide2.xml" Id="Rc8ba62da899d40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2fffef67a46f7" /><Relationship Type="http://schemas.openxmlformats.org/officeDocument/2006/relationships/notesSlide" Target="/ppt/notesSlides/notesSlide3.xml" Id="R02e7a54fdea146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182833996454d" /><Relationship Type="http://schemas.openxmlformats.org/officeDocument/2006/relationships/notesSlide" Target="/ppt/notesSlides/notesSlide4.xml" Id="R98db21dc161d42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7bb812e404deb" /><Relationship Type="http://schemas.openxmlformats.org/officeDocument/2006/relationships/notesSlide" Target="/ppt/notesSlides/notesSlide5.xml" Id="Rd9fd5b62087e41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9af61bb5043b1" /><Relationship Type="http://schemas.openxmlformats.org/officeDocument/2006/relationships/notesSlide" Target="/ppt/notesSlides/notesSlide6.xml" Id="R5c0837e40c0041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d28ed97ba4da3" /><Relationship Type="http://schemas.openxmlformats.org/officeDocument/2006/relationships/notesSlide" Target="/ppt/notesSlides/notesSlide7.xml" Id="Rd521bd4272144d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5fb54bc664dc9" /><Relationship Type="http://schemas.openxmlformats.org/officeDocument/2006/relationships/notesSlide" Target="/ppt/notesSlides/notesSlide8.xml" Id="R3ef6bd9f631c42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0ae65653c4cf2" /><Relationship Type="http://schemas.openxmlformats.org/officeDocument/2006/relationships/notesSlide" Target="/ppt/notesSlides/notesSlide9.xml" Id="Rf69131aadafa43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a5b6f390546e5" /><Relationship Type="http://schemas.openxmlformats.org/officeDocument/2006/relationships/notesSlide" Target="/ppt/notesSlides/notesSlide10.xml" Id="Re574e4dd93ef44c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B7F88E-3869-4BA9-85C7-8AF0E3CB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A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ACD16-9BD0-4FE1-877C-0ABD8C0D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9D887-D490-41F9-965F-4C1B9BC9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83E57631-9054-4395-9CD4-D6CBC57F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66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B05ACAC1-1A22-455F-968B-9DACC231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B75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8B75D"/>
                </a:solidFill>
                <a:latin typeface="Avenir Next"/>
                <a:ea typeface="Avenir Next"/>
                <a:cs typeface="Avenir Next"/>
              </a:rPr>
              <a:t>PRODUCT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FBA31-D2C7-4FE6-AC32-9C035861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5350"/>
            <a:ext cx="7810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AudioRouter makes Mac audio routing visual.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40DF9-02FD-434C-AF61-5F4DE5A7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57D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57D"/>
                </a:solidFill>
                <a:latin typeface="Avenir Next"/>
                <a:ea typeface="Avenir Next"/>
                <a:cs typeface="Avenir Next"/>
              </a:rPr>
              <a:t>Source: AudioRouter README and CHANGELOG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60B7F-EB1C-4728-85A8-12C5E2A7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17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66717A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c37756212403d"/>
          <a:stretch xmlns:a="http://schemas.openxmlformats.org/drawingml/2006/main"/>
        </p:blipFill>
        <p:spPr>
          <a:xfrm xmlns:a="http://schemas.openxmlformats.org/drawingml/2006/main">
            <a:off x="9239250" y="55245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93362-329A-4935-A7BD-99AEE070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581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A native macOS menu-bar utility for routing source apps to real output devices, with a truthful backend model and pro-audio control surface.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66725-39D1-4630-A085-232EA71D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381625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115"/>
          </a:solidFill>
          <a:ln xmlns:a="http://schemas.openxmlformats.org/drawingml/2006/main" w="9525">
            <a:solidFill>
              <a:srgbClr val="3B48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40548-335F-4AD9-841F-583A25F8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42E8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5674A-26BE-472D-96F2-00D2FA17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52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E91633-8EA9-401E-9139-02BEB1B4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476500"/>
            <a:ext cx="10668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Spotify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FB5DF1-3DE4-41CF-A70D-A98DAAA3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486025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A"/>
          </a:solidFill>
          <a:ln xmlns:a="http://schemas.openxmlformats.org/drawingml/2006/main" w="9525">
            <a:solidFill>
              <a:srgbClr val="57E6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3BE9A6-A9BD-4F87-9358-ED5B79F0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54317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E6E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57E6E6"/>
                </a:solidFill>
                <a:latin typeface="Menlo"/>
                <a:ea typeface="Menlo"/>
                <a:cs typeface="Menlo"/>
              </a:rPr>
              <a:t>44.1k 32f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9371C4-C29C-4997-BFD9-EC717BB9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6955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2E8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42E878"/>
                </a:solidFill>
                <a:latin typeface="Avenir Next"/>
                <a:ea typeface="Avenir Next"/>
                <a:cs typeface="Avenir Next"/>
              </a:rPr>
              <a:t>Live 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88BD58-487A-420D-98FE-E253A4B1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6705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2A34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A97F9C-9B00-425E-84C4-2FEBDD82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238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751649-A910-484D-AECF-9A983C20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162300"/>
            <a:ext cx="10668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Music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4760C6-0917-4E87-862C-869C408E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171825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A15"/>
          </a:solidFill>
          <a:ln xmlns:a="http://schemas.openxmlformats.org/drawingml/2006/main" w="9525">
            <a:solidFill>
              <a:srgbClr val="F8B7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FCD7CA-6AF4-4F83-A89C-ADB5623B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22897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B75D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8B75D"/>
                </a:solidFill>
                <a:latin typeface="Menlo"/>
                <a:ea typeface="Menlo"/>
                <a:cs typeface="Menlo"/>
              </a:rPr>
              <a:t>48k 32f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76D48-9D35-4D52-88B4-5B9542FA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3813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BDA006-BCCC-44D5-993D-685E59F4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8125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57E6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20FC75-2461-49FD-BDB3-739C927D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552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84EFA2-DDB7-4708-B585-65938364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47650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AirPods Pro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C2FF83-3F3A-4210-8552-7F3888E8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7051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Bluetooth output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A5A3B6-2FF6-4682-A45C-BB633E22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6705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57E6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0DE3A1-DC75-4008-A009-9CAC3EBF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238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8ECBEC-5759-4ABE-8436-0D289E2E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16230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MacBook Speakers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C2107F-8EDC-4623-A8C0-D051ADD0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3909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System output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502121-25E4-44C8-9601-0F853BCB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38425"/>
            <a:ext cx="142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1A588A-3DCD-41B5-BE0D-17C183B8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24225"/>
            <a:ext cx="142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B07796-6C68-4D50-B624-16698ED0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145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8B75D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8B75D"/>
                </a:solidFill>
                <a:latin typeface="Menlo"/>
                <a:ea typeface="Menlo"/>
                <a:cs typeface="Menlo"/>
              </a:rPr>
              <a:t>Source apps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514FC7-0C52-4121-AC80-05BF0BED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145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E6E6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57E6E6"/>
                </a:solidFill>
                <a:latin typeface="Menlo"/>
                <a:ea typeface="Menlo"/>
                <a:cs typeface="Menlo"/>
              </a:rPr>
              <a:t>Outputs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41FF08-05D6-41A6-A6D9-578BED7A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2A343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374B46-ADFE-45D7-9B13-223BC846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FFE274-F631-4A68-9E8E-423A5CE8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8"/>
                </a:solidFill>
                <a:latin typeface="Menlo"/>
                <a:ea typeface="Menlo"/>
                <a:cs typeface="Menlo"/>
              </a:defRPr>
            </a:pPr>
            <a:r>
              <a:rPr sz="1725" b="1">
                <a:solidFill>
                  <a:srgbClr val="F4F7F8"/>
                </a:solidFill>
                <a:latin typeface="Menlo"/>
                <a:ea typeface="Menlo"/>
                <a:cs typeface="Menlo"/>
              </a:rPr>
              <a:t>Live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16E5F9-F36E-4826-A1F6-0ECE7F35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9112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2E878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42E878"/>
                </a:solidFill>
                <a:latin typeface="Menlo"/>
                <a:ea typeface="Menlo"/>
                <a:cs typeface="Menlo"/>
              </a:rPr>
              <a:t>DEVICE CONTROL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E66F22-7F3C-4E28-AD98-B72276E4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6257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Real Core Audio devices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7E461E-143A-41E7-B84D-1318CD20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62500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2A343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A3C13E-FA14-4FE1-987E-7D5240A2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33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C3FDED-4B90-4DBE-90F7-FC150DA8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7680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8"/>
                </a:solidFill>
                <a:latin typeface="Menlo"/>
                <a:ea typeface="Menlo"/>
                <a:cs typeface="Menlo"/>
              </a:defRPr>
            </a:pPr>
            <a:r>
              <a:rPr sz="1725" b="1">
                <a:solidFill>
                  <a:srgbClr val="F4F7F8"/>
                </a:solidFill>
                <a:latin typeface="Menlo"/>
                <a:ea typeface="Menlo"/>
                <a:cs typeface="Menlo"/>
              </a:rPr>
              <a:t>14.2+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28DF77-E854-4973-8109-46D0FB43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19112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E6E6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57E6E6"/>
                </a:solidFill>
                <a:latin typeface="Menlo"/>
                <a:ea typeface="Menlo"/>
                <a:cs typeface="Menlo"/>
              </a:rPr>
              <a:t>PROCESS TAPS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7E97A3-090C-4F05-8EE8-8DE60102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6257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Experimental app routing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945F97-B84C-452B-AF80-F3EBF835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2A343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52B339-4E8F-4413-8AA6-CC57BD66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33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5480C1-8C87-4F9A-809A-17D5B5F4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7680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8"/>
                </a:solidFill>
                <a:latin typeface="Menlo"/>
                <a:ea typeface="Menlo"/>
                <a:cs typeface="Menlo"/>
              </a:defRPr>
            </a:pPr>
            <a:r>
              <a:rPr sz="1725" b="1">
                <a:solidFill>
                  <a:srgbClr val="F4F7F8"/>
                </a:solidFill>
                <a:latin typeface="Menlo"/>
                <a:ea typeface="Menlo"/>
                <a:cs typeface="Menlo"/>
              </a:rPr>
              <a:t>Honest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A768ED-CA2F-498A-8E92-A4221F8A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9112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8B75D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8B75D"/>
                </a:solidFill>
                <a:latin typeface="Menlo"/>
                <a:ea typeface="Menlo"/>
                <a:cs typeface="Menlo"/>
              </a:rPr>
              <a:t>BACKEND STATUS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C54F5D-85A6-473D-8CE8-9E4F182F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6257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Live, saved, or requires backend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936FE8-2230-41C1-ACBA-A06DDF6F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2A343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DB188A-8071-4F8E-9BC5-DCEDBCBE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33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FFEDB1B-1635-438C-88E2-77CF2B24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7680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8"/>
                </a:solidFill>
                <a:latin typeface="Menlo"/>
                <a:ea typeface="Menlo"/>
                <a:cs typeface="Menlo"/>
              </a:defRPr>
            </a:pPr>
            <a:r>
              <a:rPr sz="1725" b="1">
                <a:solidFill>
                  <a:srgbClr val="F4F7F8"/>
                </a:solidFill>
                <a:latin typeface="Menlo"/>
                <a:ea typeface="Menlo"/>
                <a:cs typeface="Menlo"/>
              </a:rPr>
              <a:t>ZIP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2B2FE69-18F0-45A8-B6AD-4E17B5E4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9112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E6E6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57E6E6"/>
                </a:solidFill>
                <a:latin typeface="Menlo"/>
                <a:ea typeface="Menlo"/>
                <a:cs typeface="Menlo"/>
              </a:rPr>
              <a:t>PUBLIC BUILD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10A0A68-80B1-45FB-9F2F-74702502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36257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GitHub release package</a:t>
            </a:r>
          </a:p>
        </p:txBody>
      </p:sp>
    </p:spTree>
    <p:extLst>
      <p:ext uri="{BB962C8B-B14F-4D97-AF65-F5344CB8AC3E}">
        <p14:creationId xmlns:p14="http://schemas.microsoft.com/office/powerpoint/2010/main" val="2293599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6186EF-D397-48E5-8855-69E692AB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A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62B3E-EB12-4023-93DA-4848956C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081BC-3CBC-4213-A6F3-941BDFAC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7B5CEE6E-D9A5-4824-BD0F-B9A96410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66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7CDF474B-A98E-4D6A-BF40-3225B24E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B75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8B75D"/>
                </a:solidFill>
                <a:latin typeface="Avenir Next"/>
                <a:ea typeface="Avenir Next"/>
                <a:cs typeface="Avenir Next"/>
              </a:rPr>
              <a:t>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1A0EB-1817-4F8A-B58D-BE5F533C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5350"/>
            <a:ext cx="7810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Mac audio routing is split across settings, apps, permissions, and device changes.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D59B7-F059-46EB-80BB-C1AB5E6F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57D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57D"/>
                </a:solidFill>
                <a:latin typeface="Avenir Next"/>
                <a:ea typeface="Avenir Next"/>
                <a:cs typeface="Avenir Next"/>
              </a:rPr>
              <a:t>Source: AudioRouter README and CHANGELOG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B1A0D-CAD4-410B-82FA-E9DA06D0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17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66717A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59C89-B8EC-40F6-8548-034C4D33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2A34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20590-B4B4-4A70-887C-96A8342F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3362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B75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8B75D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B57EA5-2393-444C-ACB8-25897CA2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System Settings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011F1-402A-44D9-BA82-2241D7E7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1457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Switch output, input, volume, mute, and balance in separate places.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AACE84-9003-4599-B4DC-4C2A7575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2A34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A12E9-5E47-4A0B-AB18-17471950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527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B75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8B75D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61A16-991B-4961-8A52-1634EA27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051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App behavior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908572-CCE4-45EB-AB8D-2E3098D7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337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Spotify, browsers, calls, and editors do not expose consistent routing controls.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7F20C2-2322-4100-A645-767824E1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2A34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7FD74-88F2-480A-976A-1CBF39A1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7192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B75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8B75D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507D3E-00CF-4515-B981-5B582AFA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243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Permissions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0B95EE-604B-420F-9246-93E8AB49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5287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System Audio Recording prompts appear only when capture begins.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016666-E802-4DA8-B407-C0076186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2915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2A34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5E5D64-A3DA-42D2-B761-2E374A46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910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B75D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8B75D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EFFF9F-C630-434A-A44D-449197A6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434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Bluetooth churn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7E6C34-E7D7-42B4-8042-03C3C6CB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720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AirPods and speakers can re-enumerate and disturb route state.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7D7BB6-B58F-4927-9C20-1BABAB58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7630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F8B75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696816-DFC2-46A1-9E64-EBE86492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668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B178EB-02A2-46CD-B57C-331D80C9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000125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B75D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8B75D"/>
                </a:solidFill>
                <a:latin typeface="Avenir Next"/>
                <a:ea typeface="Avenir Next"/>
                <a:cs typeface="Avenir Next"/>
              </a:rPr>
              <a:t>The pain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56F0CB-3C34-46E4-B158-8E20397E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295400"/>
            <a:ext cx="2800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Users want source app -&gt; speaker decisions. macOS exposes device control, but reliable per-app output routing needs a deeper backend.</a:t>
            </a:r>
          </a:p>
        </p:txBody>
      </p:sp>
    </p:spTree>
    <p:extLst>
      <p:ext uri="{BB962C8B-B14F-4D97-AF65-F5344CB8AC3E}">
        <p14:creationId xmlns:p14="http://schemas.microsoft.com/office/powerpoint/2010/main" val="7901816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94B064-56D1-4367-BDEB-739108E6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A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EB3E2-B3F9-4C77-A4E2-485FCF95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18064-79AC-48DA-A083-684CEF19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884E39AB-6365-40FA-8EF2-D0EB890F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66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54E31423-95BF-443F-8629-2C0739DC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B75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8B75D"/>
                </a:solidFill>
                <a:latin typeface="Avenir Next"/>
                <a:ea typeface="Avenir Next"/>
                <a:cs typeface="Avenir Next"/>
              </a:rPr>
              <a:t>PRODUCT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C3B60-4DF8-49BF-989F-0AEBABC9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5350"/>
            <a:ext cx="7810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AudioRouter turns source-to-output control into a patch bay.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D59FA-1FFB-47BD-9986-E6E5FF0B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57D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57D"/>
                </a:solidFill>
                <a:latin typeface="Avenir Next"/>
                <a:ea typeface="Avenir Next"/>
                <a:cs typeface="Avenir Next"/>
              </a:rPr>
              <a:t>Source: AudioRouter README and CHANGELOG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FC16A-2B21-4104-8C94-A8B86A7B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17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66717A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55A04-F710-4354-8509-43316827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666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Every route is visible. Every unsupported state is labeled. Users can drag, select, save, retry, or reset to Follow System Output.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83CCC-B5C2-41B3-8C72-EFC3EA4D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8B75D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8B75D"/>
                </a:solidFill>
                <a:latin typeface="Menlo"/>
                <a:ea typeface="Menlo"/>
                <a:cs typeface="Menlo"/>
              </a:rPr>
              <a:t>SOURCE APPS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E3F51-FBB3-46A5-8E95-2E3C1FAB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1462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2E878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42E878"/>
                </a:solidFill>
                <a:latin typeface="Menlo"/>
                <a:ea typeface="Menlo"/>
                <a:cs typeface="Menlo"/>
              </a:rPr>
              <a:t>ROUTING 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7621D-862B-4F4B-BE7F-49D59B03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146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E6E6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57E6E6"/>
                </a:solidFill>
                <a:latin typeface="Menlo"/>
                <a:ea typeface="Menlo"/>
                <a:cs typeface="Menlo"/>
              </a:rPr>
              <a:t>OUTPUTS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F4D5E9-ED96-4B5D-BB43-F85E42FF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6705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42E8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59735-C415-4F8B-BF85-2772358C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38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9BA731-5C4D-4855-8D87-5C4DDEC1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162300"/>
            <a:ext cx="10668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Spotify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18414C-11F7-44C4-92C2-1CE3BBCE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171825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A"/>
          </a:solidFill>
          <a:ln xmlns:a="http://schemas.openxmlformats.org/drawingml/2006/main" w="9525">
            <a:solidFill>
              <a:srgbClr val="57E6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EE95CA-E7EB-4576-A439-B49309C9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2897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E6E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57E6E6"/>
                </a:solidFill>
                <a:latin typeface="Menlo"/>
                <a:ea typeface="Menlo"/>
                <a:cs typeface="Menlo"/>
              </a:rPr>
              <a:t>44.1k 32f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6955D3-2C16-4598-99C7-DFCE3FF9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813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2E8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42E878"/>
                </a:solidFill>
                <a:latin typeface="Avenir Next"/>
                <a:ea typeface="Avenir Next"/>
                <a:cs typeface="Avenir Next"/>
              </a:rPr>
              <a:t>Selected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9EF145-F0CD-4362-8708-B630D622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000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42E8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3FBD97-30DE-4E15-80FE-9E586AB3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814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F477AF-7900-4443-93C6-DE3E0E6E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905250"/>
            <a:ext cx="10668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Chrome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A50D1D-8448-4F16-9DA0-6EC6FDF3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914775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A"/>
          </a:solidFill>
          <a:ln xmlns:a="http://schemas.openxmlformats.org/drawingml/2006/main" w="9525">
            <a:solidFill>
              <a:srgbClr val="57E6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952B4A-0819-4A79-9CFC-98FAE517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9719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E6E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57E6E6"/>
                </a:solidFill>
                <a:latin typeface="Menlo"/>
                <a:ea typeface="Menlo"/>
                <a:cs typeface="Menlo"/>
              </a:rPr>
              <a:t>48k 32f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A5CED8-3A37-4A5E-BED8-30BE975D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243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2E8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42E878"/>
                </a:solidFill>
                <a:latin typeface="Avenir Next"/>
                <a:ea typeface="Avenir Next"/>
                <a:cs typeface="Avenir Next"/>
              </a:rPr>
              <a:t>Running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2B8AF5-F549-4210-B5BA-42C31D7C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5295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2A343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9968C1-9BB7-4276-BDE4-299D7E8D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724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B2B855-6588-4FF3-9DE5-7AFAB092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648200"/>
            <a:ext cx="10668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Apple Music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776F1A-679F-45A8-8AE5-E65AA222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657725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A15"/>
          </a:solidFill>
          <a:ln xmlns:a="http://schemas.openxmlformats.org/drawingml/2006/main" w="9525">
            <a:solidFill>
              <a:srgbClr val="F8B75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564A89-DA94-4FC2-A36F-33B7FEE5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71487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B75D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8B75D"/>
                </a:solidFill>
                <a:latin typeface="Menlo"/>
                <a:ea typeface="Menlo"/>
                <a:cs typeface="Menlo"/>
              </a:rPr>
              <a:t>Pending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16F847-842B-4F98-B7CF-FB95D996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8672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39CBEC-0F27-43F6-B33D-70A9D423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23812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5"/>
          </a:solidFill>
          <a:ln xmlns:a="http://schemas.openxmlformats.org/drawingml/2006/main" w="9525">
            <a:solidFill>
              <a:srgbClr val="42E87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01DCA6-9154-4930-A393-AD26E78C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0995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51F"/>
          </a:solidFill>
          <a:ln xmlns:a="http://schemas.openxmlformats.org/drawingml/2006/main" w="9525">
            <a:solidFill>
              <a:srgbClr val="42E87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AA159F-7BAA-4864-B24F-2230AE76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4671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2E878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2E878"/>
                </a:solidFill>
                <a:latin typeface="Menlo"/>
                <a:ea typeface="Menlo"/>
                <a:cs typeface="Menlo"/>
              </a:rPr>
              <a:t>LIVE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01EE33-D45E-4E52-B6D7-F50C8A0C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4099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A15"/>
          </a:solidFill>
          <a:ln xmlns:a="http://schemas.openxmlformats.org/drawingml/2006/main" w="9525">
            <a:solidFill>
              <a:srgbClr val="F8B75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1B252C-EBC4-4EDC-850B-DD5EEDE1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67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B75D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8B75D"/>
                </a:solidFill>
                <a:latin typeface="Menlo"/>
                <a:ea typeface="Menlo"/>
                <a:cs typeface="Menlo"/>
              </a:rPr>
              <a:t>SAVED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93419D-0941-4DDF-94E8-AC678E87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Public Core Audio process taps attempt live capture on macOS 14.2+.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FE55F2-5D2D-4714-82A4-E057D376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Routes fall back to saved state instead of pretending to work.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EE4F90-A582-4F1A-9A2E-CFED4B17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57E6E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A0858D-41F9-4A3F-BBF3-A8B14396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DFCDD7-80DD-4259-B99C-88074170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6230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AirPods Pro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0598CA-D83D-4E8B-8BAA-AEA4B457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909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Bluetooth 2 ch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153683-F1FD-408B-AD1B-C2AB6FE3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000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57E6E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2D9C02-79D0-4346-AEAA-579931C4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814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604B09-9E4C-47E9-A5BC-A6CC94D5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0525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MacBook Speakers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8B6B17-510B-4A3D-80F8-D6D4C05C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338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Built-in 2 ch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85B494-D558-48AE-8599-10FBEE9D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5295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57E6E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774525-5E44-43A8-872B-38796531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24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368C23-6F86-4915-BC37-2CD46C75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4820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Group Play 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905243-E370-4467-87D9-2BE2BACA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768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2 speakers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317B89E-0AF9-45D7-9628-2BA645D1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2422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FDA136-E206-42B1-937F-653523D5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24225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FDE5CF5-A13A-4DAD-8AB0-CE6BBA32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671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B89925-9EEA-4C1C-83BB-73A8E586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39E846A-F985-4FBE-9EA6-2D8EB9F0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01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E33C7E-8CA9-4FD5-9C93-3F1A1F7F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101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3F91CD0-602D-46AC-A43E-B669A1F9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101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CA72F53-0DE4-4CDC-B81F-12CB7AC6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724638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02BCA4-ABFB-40A0-9BD0-977CDF19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A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B18AE-057D-4C9C-97CB-F327BAE5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FD2F4-6DCD-4BA1-9E17-67EF3C12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6CBA89E2-4FD0-4505-948E-FBC1E3D4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66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23FE046E-5A87-491B-B3A6-B1BD8CD1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B75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8B75D"/>
                </a:solidFill>
                <a:latin typeface="Avenir Next"/>
                <a:ea typeface="Avenir Next"/>
                <a:cs typeface="Avenir Next"/>
              </a:rPr>
              <a:t>MVP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331CD-22AC-4018-8E68-FF00AD73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5350"/>
            <a:ext cx="7810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The product is already useful before full custom routing is solved.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F2BCC-2794-4F91-8E67-68A0DD91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57D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57D"/>
                </a:solidFill>
                <a:latin typeface="Avenir Next"/>
                <a:ea typeface="Avenir Next"/>
                <a:cs typeface="Avenir Next"/>
              </a:rPr>
              <a:t>Source: AudioRouter README and CHANGELOG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FEFAD-BDE5-4AF9-A780-9BE2B60C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17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66717A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0C867-D4AF-4A5F-ADA4-D89A3685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10001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3"/>
          </a:solidFill>
          <a:ln xmlns:a="http://schemas.openxmlformats.org/drawingml/2006/main" w="9525">
            <a:solidFill>
              <a:srgbClr val="3B48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F6BE4-9FB8-4AFF-9A57-3BD1B211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8B75D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8B75D"/>
                </a:solidFill>
                <a:latin typeface="Menlo"/>
                <a:ea typeface="Menlo"/>
                <a:cs typeface="Menlo"/>
              </a:rPr>
              <a:t>Capability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8E912-956F-4AC7-86BD-7310465A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241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8B75D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8B75D"/>
                </a:solidFill>
                <a:latin typeface="Menlo"/>
                <a:ea typeface="Menlo"/>
                <a:cs typeface="Menlo"/>
              </a:rPr>
              <a:t>What it proves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FE25F-1810-47B0-9D37-E0E6A087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8B75D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8B75D"/>
                </a:solidFill>
                <a:latin typeface="Menlo"/>
                <a:ea typeface="Menlo"/>
                <a:cs typeface="Menlo"/>
              </a:rPr>
              <a:t>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B707C-EE68-49E9-9A0C-32982982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5752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B69E0F-6A38-4829-BCE6-AFEEFA7D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051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Real device discovery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D372E4-4E4B-48C5-9FFD-CE39C297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241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Input/output devices, default device state, transport 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5EB12-1A45-4663-ACF5-D1270659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0CBFD6-2585-445A-8F87-4BF8235C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051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2E8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42E878"/>
                </a:solidFill>
                <a:latin typeface="Menlo"/>
                <a:ea typeface="Menlo"/>
                <a:cs typeface="Menlo"/>
              </a:rPr>
              <a:t>Working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2F35CF-198F-4F4E-AC54-1C04256C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088B5F-B254-4373-A388-1312452F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337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System controls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5F1932-46F3-4C6B-86D6-248805E6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52775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Output/input volume, mute, balance where exposed by hardware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C29240-95E0-495E-BE6C-303E6F8B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A9A253-CF0D-4713-B7D1-0B8CD5B5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337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2E8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42E878"/>
                </a:solidFill>
                <a:latin typeface="Menlo"/>
                <a:ea typeface="Menlo"/>
                <a:cs typeface="Menlo"/>
              </a:rPr>
              <a:t>Working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0BD41A-2EA3-464F-AF64-7BFFB2EE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147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07A353-5C0B-4CCE-BBA7-7D8C5211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App source list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6D8A30-3525-47D1-A7A7-852A8A38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Spotify, Music, Chrome, and user-added running apps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9BFAE2-10D3-4C41-81FC-0A9BBAD4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19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C8EC87-789D-4B5D-89B7-C4B503C8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623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2E8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42E878"/>
                </a:solidFill>
                <a:latin typeface="Menlo"/>
                <a:ea typeface="Menlo"/>
                <a:cs typeface="Menlo"/>
              </a:rPr>
              <a:t>Working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1264EC-73DC-4417-8082-F55B92BE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E2716C-285E-44FA-B8A3-60F371D0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Process-tap routes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8EFCD6-96B9-4D47-937E-5B792E5D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10025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Experimental live app capture and render on macOS 14.2+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C7A4DA-37B0-4B5A-971E-E23979E0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48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46943C-8F0F-48BF-A202-4D24E28D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909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7E6E6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7E6E6"/>
                </a:solidFill>
                <a:latin typeface="Menlo"/>
                <a:ea typeface="Menlo"/>
                <a:cs typeface="Menlo"/>
              </a:rPr>
              <a:t>Experimental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17C022-004C-4E17-A4B8-86E4C73F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7202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3AE68B-1EAE-4608-A4EA-F0B73A93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Group Play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0EAA70-2157-4A65-B3D5-DC720E62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386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One source fan-out to multiple outputs through separate renderers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297AE0-3FE4-468B-AC20-EE8E652D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957E4E-D47F-4AD3-8588-0003635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196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7E6E6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7E6E6"/>
                </a:solidFill>
                <a:latin typeface="Menlo"/>
                <a:ea typeface="Menlo"/>
                <a:cs typeface="Menlo"/>
              </a:rPr>
              <a:t>Experimental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2FF94E-7214-4FBC-915C-7EB003DB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70E7CB-5D84-4170-AA84-AA1E1208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482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EQ/effects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EE6F61-1F4B-4F74-9F6B-B9926A48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67275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Saved UI settings until a backend processing graph exists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49EF25-E17A-4E6B-BF93-4CCC0DBA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05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110975-F0AA-4241-A4F1-9AC9B008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482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B75D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8B75D"/>
                </a:solidFill>
                <a:latin typeface="Menlo"/>
                <a:ea typeface="Menlo"/>
                <a:cs typeface="Menlo"/>
              </a:rPr>
              <a:t>Requires backend</a:t>
            </a:r>
          </a:p>
        </p:txBody>
      </p:sp>
    </p:spTree>
    <p:extLst>
      <p:ext uri="{BB962C8B-B14F-4D97-AF65-F5344CB8AC3E}">
        <p14:creationId xmlns:p14="http://schemas.microsoft.com/office/powerpoint/2010/main" val="1889336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1CB3E3-DFE0-4773-91DB-E1E834C3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A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2C5AB-FF77-4AB8-99BF-418D5691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15F3D-0A4E-4F66-A949-7CB3E62B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E5C6F60D-5216-46C9-8999-7B973368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66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28288890-27DC-4259-A283-E9A4DAE7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B75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8B75D"/>
                </a:solidFill>
                <a:latin typeface="Avenir Next"/>
                <a:ea typeface="Avenir Next"/>
                <a:cs typeface="Avenir Next"/>
              </a:rPr>
              <a:t>BACKEND TRUTH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596A9-08ED-4BC8-9F33-CCCE86E9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5350"/>
            <a:ext cx="7810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AudioRouter separates real control from future pro routing backend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CEC4C-5158-4D4E-8C6A-942A2793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57D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57D"/>
                </a:solidFill>
                <a:latin typeface="Avenir Next"/>
                <a:ea typeface="Avenir Next"/>
                <a:cs typeface="Avenir Next"/>
              </a:rPr>
              <a:t>Source: AudioRouter README and CHANGELOG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B4CBA-65F2-4711-BFCB-873FD65B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17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66717A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E49A9-3D1D-4029-AD36-18981A1C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704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57E6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DA67E-4B0D-4D73-AAFB-6C662BC7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95525"/>
            <a:ext cx="2333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SwiftUI control surface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D0361-3A5E-452A-AA66-8292DFCF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14575"/>
            <a:ext cx="3619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Menu bar popover, dashboard, onboarding, route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372B3-7C18-4FBE-917E-4A950A0A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5267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7E6E6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57E6E6"/>
                </a:solidFill>
                <a:latin typeface="Menlo"/>
                <a:ea typeface="Menlo"/>
                <a:cs typeface="Menlo"/>
              </a:rPr>
              <a:t>LIVE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064BB-F6D1-4BFC-A5E6-E151FABB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432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89111-D423-4CA5-8939-BF4355F2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704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42E8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127C9-D82A-4802-AB5B-BB401F23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57525"/>
            <a:ext cx="2333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Public Core Audio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874C3-ADFC-40E1-B3D9-813C590F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76575"/>
            <a:ext cx="3619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Devices, default input/output, volume, mute, balance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3EF58A-16EA-4FF0-81D6-D06ABB85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1467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2E878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2E878"/>
                </a:solidFill>
                <a:latin typeface="Menlo"/>
                <a:ea typeface="Menlo"/>
                <a:cs typeface="Menlo"/>
              </a:rPr>
              <a:t>LIVE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E37F50-3096-46BE-9718-00CFE66C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052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768767-AFF8-4565-B342-319B079A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704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F8B7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3663B9-9DF3-410A-B548-E1C3629B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9525"/>
            <a:ext cx="2333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Process tap experiment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FAA5AF-74FC-4BDD-9798-95C688CF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38575"/>
            <a:ext cx="3619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Capture selected process when macOS exposes a tap-able audio process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36FBB2-35D4-456F-ABD2-3C879007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7667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8B75D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F8B75D"/>
                </a:solidFill>
                <a:latin typeface="Menlo"/>
                <a:ea typeface="Menlo"/>
                <a:cs typeface="Menlo"/>
              </a:rPr>
              <a:t>EXPERIMENTAL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746AA5-98DF-47D2-9F00-421B23A9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672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709218-4785-4CEE-877E-48498E73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704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FF5F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06210A-ECEC-44E1-BC4F-921726DB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81525"/>
            <a:ext cx="2333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Future routing backend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C14F16-E5C7-4283-8065-BBE115EC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00575"/>
            <a:ext cx="3619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Virtual device or audio server plug-in for reliable per-app routing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635FC4-522F-476B-BF47-4FC351E2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3867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5F66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FF5F66"/>
                </a:solidFill>
                <a:latin typeface="Menlo"/>
                <a:ea typeface="Menlo"/>
                <a:cs typeface="Menlo"/>
              </a:rPr>
              <a:t>NEXT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B70B51-6C29-4B36-B619-FA8E4D90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476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F8B75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AD7EA9-ED95-4965-AD90-3B5C4510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B252DD-A9F5-4C08-80D2-EB5AE6F0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95575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B75D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8B75D"/>
                </a:solidFill>
                <a:latin typeface="Avenir Next"/>
                <a:ea typeface="Avenir Next"/>
                <a:cs typeface="Avenir Next"/>
              </a:rPr>
              <a:t>Why this matters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B5CEAE-B434-47C1-8E5F-FB8A1AF3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90850"/>
            <a:ext cx="21336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The app can ship now without misleading users, while the architecture has a clear place for a production routing engine.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FCF87B-6EF3-446D-89AF-EF4771CE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291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Truthful labels: Live, Working, Saved Only, Device Missing, Requires Audio Backend.</a:t>
            </a:r>
          </a:p>
        </p:txBody>
      </p:sp>
    </p:spTree>
    <p:extLst>
      <p:ext uri="{BB962C8B-B14F-4D97-AF65-F5344CB8AC3E}">
        <p14:creationId xmlns:p14="http://schemas.microsoft.com/office/powerpoint/2010/main" val="15253043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56FBB6-03BD-422C-B89C-AA7D31ED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A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BBC70-3399-4A0E-9AE5-E7E8BB27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BDCEB-9964-4907-AC35-D05706C5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B2C6E3F7-E09D-4EA0-BE62-D8346DDD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66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0C8B4EAE-FAB7-49EA-A2BC-FE989D94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B75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8B75D"/>
                </a:solidFill>
                <a:latin typeface="Avenir Next"/>
                <a:ea typeface="Avenir Next"/>
                <a:cs typeface="Avenir Next"/>
              </a:rPr>
              <a:t>SIGNAL QUALITY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C5DC4-8D29-4308-B0C8-289E485A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5350"/>
            <a:ext cx="7810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The route path preserves high-quality PCM before expanding routing ambition.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16EF0-A636-4881-A624-67613624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57D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57D"/>
                </a:solidFill>
                <a:latin typeface="Avenir Next"/>
                <a:ea typeface="Avenir Next"/>
                <a:cs typeface="Avenir Next"/>
              </a:rPr>
              <a:t>Source: AudioRouter README and CHANGELOG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8D17C-4648-4D72-BB33-97311735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17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66717A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EA5D2-7ABE-40FB-9606-7A372B56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57E6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FC7E0-A1DE-4194-8CC8-EE86EFBA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28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Process tap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AA791-56CD-4282-A8D0-BDD05213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3528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Source audio format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249F60-7437-4A9E-A9C8-4906D085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6385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7E6E6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7E6E6"/>
                </a:solidFill>
                <a:latin typeface="Menlo"/>
                <a:ea typeface="Menlo"/>
                <a:cs typeface="Menlo"/>
              </a:rPr>
              <a:t>44.1k or 48k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2EB51-15AC-4F79-8449-AA97ED41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099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8E83C-BE20-4080-ADC7-C4F049FF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766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E6E6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57E6E6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18245-A7DD-4393-99EA-36FBC2D9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42E8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84B0F-7A17-44CB-ADFF-5442DDAB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028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Format policy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E94DAA-C20D-4D3D-ADE1-98289D87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3528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32-bit float PCM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17267A-361D-47A9-8098-030B84DE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6385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2E8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42E878"/>
                </a:solidFill>
                <a:latin typeface="Menlo"/>
                <a:ea typeface="Menlo"/>
                <a:cs typeface="Menlo"/>
              </a:rPr>
              <a:t>source-rate first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CA107-F56E-4F1B-BA36-CE6093D1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4099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BED358-59E6-44DA-BCE5-2768232C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766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E6E6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57E6E6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ACAAF7-3AC4-4DCC-8A59-8C8D2FC5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5750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57E6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5CB0FF-740E-49B4-8B17-25879126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028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Safety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CA3063-3527-4379-B35F-6F341871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3528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soft peak limiter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DEE33B-FBC9-4CDE-B918-5F3930E3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6385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7E6E6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7E6E6"/>
                </a:solidFill>
                <a:latin typeface="Menlo"/>
                <a:ea typeface="Menlo"/>
                <a:cs typeface="Menlo"/>
              </a:rPr>
              <a:t>boost without hard clip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45DB1C-807C-434B-AABD-B8EB7CF8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099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084B3D-F437-47D4-B8EA-AC8C3C2C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766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E6E6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57E6E6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14F0E4-D557-4F58-ADC8-0E7EF7D9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5750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57E6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53E415-3514-4E27-810D-7BD349BC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028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Renderer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F6EC31-9F8D-4066-BAC4-3FAD75FC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3528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AudioQueue output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878281-DAB7-49FC-9E81-C6AFC0D0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6385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7E6E6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7E6E6"/>
                </a:solidFill>
                <a:latin typeface="Menlo"/>
                <a:ea typeface="Menlo"/>
                <a:cs typeface="Menlo"/>
              </a:rPr>
              <a:t>device pinned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5A3DC7-6D00-4B91-AE95-46A3EBF4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767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4"/>
          </a:solidFill>
          <a:ln xmlns:a="http://schemas.openxmlformats.org/drawingml/2006/main" w="9525">
            <a:solidFill>
              <a:srgbClr val="3B485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D45B77-E172-4893-9D45-B614467E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2950"/>
            <a:ext cx="291306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D25B9F-5A70-4350-AC33-377999E5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031" y="4552950"/>
            <a:ext cx="291306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0E8953-2386-4565-B655-7AD6D68A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963" y="4552950"/>
            <a:ext cx="291306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D5DAF4-CF90-4964-91C7-E1DBA543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894" y="4552950"/>
            <a:ext cx="291306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8C4AE9-C29D-4C4B-9056-F83A5E0C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825" y="4552950"/>
            <a:ext cx="291306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E25D18-CE01-4099-849B-0D9F06F9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756" y="4552950"/>
            <a:ext cx="291306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47BC11-4566-4C65-9435-B6FA164D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4552950"/>
            <a:ext cx="291306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7F40C9-C2EC-42B2-BFB7-B23D0CDC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619" y="4552950"/>
            <a:ext cx="291306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EC213E-E1EA-44F0-8571-29D7EE49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550" y="4552950"/>
            <a:ext cx="291306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4A1181-E804-4239-8A3B-AF4DECBF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481" y="4552950"/>
            <a:ext cx="291306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51474D-9367-4D5E-98B9-758A9B32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412" y="4552950"/>
            <a:ext cx="291306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081666-0337-44D4-9CF3-5F73F356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344" y="4552950"/>
            <a:ext cx="291306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29AF40-F82B-439A-A00E-C41AFB82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910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7E6E6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57E6E6"/>
                </a:solidFill>
                <a:latin typeface="Menlo"/>
                <a:ea typeface="Menlo"/>
                <a:cs typeface="Menlo"/>
              </a:rPr>
              <a:t>Source-quality badge: 44.1k · 32f · 2ch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2E5342-CC51-4BBC-94EB-C1700C3B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287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F8B75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4CFEEA-52DC-4BAB-8904-148C8C6E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619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2BDC8A-8A2F-4899-990C-005706E9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552575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B75D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8B75D"/>
                </a:solidFill>
                <a:latin typeface="Avenir Next"/>
                <a:ea typeface="Avenir Next"/>
                <a:cs typeface="Avenir Next"/>
              </a:rPr>
              <a:t>Hardware limits stay visible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B0478D-7658-4C65-990C-717E9848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847850"/>
            <a:ext cx="251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Bluetooth, AirPlay, and device firmware can still cap codec or sample-rate quality outside AudioRouter.</a:t>
            </a:r>
          </a:p>
        </p:txBody>
      </p:sp>
    </p:spTree>
    <p:extLst>
      <p:ext uri="{BB962C8B-B14F-4D97-AF65-F5344CB8AC3E}">
        <p14:creationId xmlns:p14="http://schemas.microsoft.com/office/powerpoint/2010/main" val="12320627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21C4AE-1572-43D3-BD8F-966AC537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A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75259-774C-4466-A453-8AAACF5B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1CE8B-FA3C-4653-9A1F-2BDADB24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5CBB1F14-27FA-48A8-B272-8A70E9A5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66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52C9C2A9-68EE-45AA-90F2-00CD1508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B75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8B75D"/>
                </a:solidFill>
                <a:latin typeface="Avenir Next"/>
                <a:ea typeface="Avenir Next"/>
                <a:cs typeface="Avenir Next"/>
              </a:rPr>
              <a:t>USER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A9F8B-9D28-40DB-988D-44E1DF61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5350"/>
            <a:ext cx="7810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A route should feel like choosing a track, choosing a speaker, then approving macOS.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3C780-B03E-41A2-A646-6E117977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57D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57D"/>
                </a:solidFill>
                <a:latin typeface="Avenir Next"/>
                <a:ea typeface="Avenir Next"/>
                <a:cs typeface="Avenir Next"/>
              </a:rPr>
              <a:t>Source: AudioRouter README and CHANGELOG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C67D3-7010-453D-8006-09B5BFF6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17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66717A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FDD01-1B2D-4E68-9332-78AED5D8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714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57E6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2587A-2603-468E-942E-AD9186A4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813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A"/>
          </a:solidFill>
          <a:ln xmlns:a="http://schemas.openxmlformats.org/drawingml/2006/main" w="9525">
            <a:solidFill>
              <a:srgbClr val="57E6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AA5D6-3D86-40BF-8434-048CFE3B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3845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E6E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57E6E6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E77FD-6D3E-4791-A86F-F2EC6B13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194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Pick source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1552F-7A0B-464B-BEA2-97E8F61A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04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Spotify, Music, Chrome, or a user-added app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E01F4B-83AA-46B9-A600-82F4ED49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623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414A59-B7F9-4CE7-A688-DB7A11F0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099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7E6E6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57E6E6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586DB-8654-4491-9B24-F9C4E910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71750"/>
            <a:ext cx="2714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57E6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0CDE0B-28B6-4598-9FD7-2D183C0A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7813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A"/>
          </a:solidFill>
          <a:ln xmlns:a="http://schemas.openxmlformats.org/drawingml/2006/main" w="9525">
            <a:solidFill>
              <a:srgbClr val="57E6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87A958-E943-4F4B-819E-D9AB286E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3845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E6E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57E6E6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727C9D-05DA-4A3B-B1BD-FFE12B6D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194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Choose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BD73FE-6C4A-4EEF-8033-025A41A9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6004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Follow System, Bluetooth speaker, built-in speaker, or group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63BCFF-A56E-4C15-B756-B826E20B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623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779729-1DA4-470A-9DBF-F73DC2CD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2099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B75D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8B75D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CC9F1F-A16E-414B-8191-0C5F908E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2714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F8B7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1469C1-DA87-49FC-A064-74C01FD1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A15"/>
          </a:solidFill>
          <a:ln xmlns:a="http://schemas.openxmlformats.org/drawingml/2006/main" w="9525">
            <a:solidFill>
              <a:srgbClr val="F8B75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B426AF-7BE9-406F-934A-5D71C00E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B75D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8B75D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B1DCFF-7A7B-41C3-A397-75E0DF71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194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Approve once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4EE7E6-C9FB-46A4-AC95-A6B422E7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004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macOS System Audio Recording prompt appears when the tap probe starts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50ADE7-325D-43DE-A60A-F414CF7F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62500"/>
            <a:ext cx="752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42E8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986A60-AF8B-47E4-BC57-8E690016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953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C5FD5E-DB7A-43F6-BA9E-5A546D89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886325"/>
            <a:ext cx="6991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E8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42E878"/>
                </a:solidFill>
                <a:latin typeface="Avenir Next"/>
                <a:ea typeface="Avenir Next"/>
                <a:cs typeface="Avenir Next"/>
              </a:rPr>
              <a:t>No hidden config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21DB07-DA9B-4045-806D-4F5B52E9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181600"/>
            <a:ext cx="7181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Routes, volume, mutes, app order, source apps, output groups, update checks, and onboarding are visual in the app.</a:t>
            </a:r>
          </a:p>
        </p:txBody>
      </p:sp>
    </p:spTree>
    <p:extLst>
      <p:ext uri="{BB962C8B-B14F-4D97-AF65-F5344CB8AC3E}">
        <p14:creationId xmlns:p14="http://schemas.microsoft.com/office/powerpoint/2010/main" val="16663743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822B48-9C6A-41B6-926B-60EECE2D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A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D0F51-D59B-4D71-9F1F-D2908468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57547-1B19-4E69-886C-3F31871D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A461A3B4-DA4B-4906-A1C5-10EA0E0B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66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FC30B46E-EA76-45D1-902C-C83F5794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B75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8B75D"/>
                </a:solidFill>
                <a:latin typeface="Avenir Next"/>
                <a:ea typeface="Avenir Next"/>
                <a:cs typeface="Avenir Next"/>
              </a:rPr>
              <a:t>GROUP PLAY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BDC2C-4B88-4E8B-BAAF-79DB1648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5350"/>
            <a:ext cx="7810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Speaker groups make multi-output routing visible instead of mysterious.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8A1F4-AC98-4897-AA0C-ECA3311E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57D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57D"/>
                </a:solidFill>
                <a:latin typeface="Avenir Next"/>
                <a:ea typeface="Avenir Next"/>
                <a:cs typeface="Avenir Next"/>
              </a:rPr>
              <a:t>Source: AudioRouter README and CHANGELOG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33C70-EABE-488A-9FF6-8CC0EA28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17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66717A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4926A-475B-4747-B589-63C334EC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42E8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29FA6-4492-4D2C-88F5-E0F5457B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14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F191D-54F1-4E57-A789-C493BC33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38500"/>
            <a:ext cx="10668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Spotify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4605D5-7B4F-4951-A5DB-FCA3D7B8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48025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3A"/>
          </a:solidFill>
          <a:ln xmlns:a="http://schemas.openxmlformats.org/drawingml/2006/main" w="9525">
            <a:solidFill>
              <a:srgbClr val="57E6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F97BE-11ED-484A-9A02-6D2A7301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0517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E6E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57E6E6"/>
                </a:solidFill>
                <a:latin typeface="Menlo"/>
                <a:ea typeface="Menlo"/>
                <a:cs typeface="Menlo"/>
              </a:rPr>
              <a:t>44.1k 32f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4B9A7-D981-4E6B-890B-9ADABBAD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575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2E8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42E878"/>
                </a:solidFill>
                <a:latin typeface="Avenir Next"/>
                <a:ea typeface="Avenir Next"/>
                <a:cs typeface="Avenir Next"/>
              </a:rPr>
              <a:t>Selected 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01A44F-F8C2-4C04-B93A-5026D831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24150"/>
            <a:ext cx="2571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8"/>
          </a:solidFill>
          <a:ln xmlns:a="http://schemas.openxmlformats.org/drawingml/2006/main" w="9525">
            <a:solidFill>
              <a:srgbClr val="F8B7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C0636A-B119-4DDC-8D24-5D0B564A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718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Group Play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9E0DA-D53D-45D5-A2DF-0E7542F0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528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B75D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8B75D"/>
                </a:solidFill>
                <a:latin typeface="Avenir Next"/>
                <a:ea typeface="Avenir Next"/>
                <a:cs typeface="Avenir Next"/>
              </a:rPr>
              <a:t>2 speakers · 1 routed 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6D21F8-A488-4277-989B-CC56985D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76650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One source tap fans out to each selected output renderer.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E9D1EA-5C7C-4239-B3F2-E11002C5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57E6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8A7C2F-3138-4420-89F6-15A7F3DE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19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C17245-0641-4BCB-B6AE-1240786A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4320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AirPods Pro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4624B6-8E73-468E-95DC-7CD5273C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718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Bluetooth 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20A0DD-B893-47F7-A931-C57146A5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4805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57E6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C31257-C46F-4FF7-80E7-AC818B19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19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CA0AB1-AA44-4820-A55A-65704400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4330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MacBook Speakers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8B4CA8-F8F3-453F-885A-A09E7505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719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Built-in output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3D85FC-E91A-4C4E-BC64-27591A4D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0042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7AA581-7ECB-4D24-9156-F18328A6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43250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949FB7-86DB-40DA-B741-9FC2AFF7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43350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5D664D-015F-4DAD-84BC-F66A9CA1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847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Important caveat: independent Bluetooth/AirPlay/USB devices may drift or differ in latency until a production routing backend owns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14142397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64C376-F808-4CFA-9E6B-F9B47931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A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5960A-5DF0-4610-BF5E-DCC437E4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5968E-0492-4086-AA79-A1F66E27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AE227B94-1F0E-487F-9BCD-37BCB2DC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66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A0E6EE71-EE9A-426F-BE51-EA6632EC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B75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8B75D"/>
                </a:solidFill>
                <a:latin typeface="Avenir Next"/>
                <a:ea typeface="Avenir Next"/>
                <a:cs typeface="Avenir Next"/>
              </a:rPr>
              <a:t>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C3B39-8209-4F91-BAB3-8C229110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5350"/>
            <a:ext cx="7810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The path to a pro utility is backend-first.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32A00-1BCA-493F-9249-8BFEFA45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57D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57D"/>
                </a:solidFill>
                <a:latin typeface="Avenir Next"/>
                <a:ea typeface="Avenir Next"/>
                <a:cs typeface="Avenir Next"/>
              </a:rPr>
              <a:t>Source: AudioRouter README and CHANGELOG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B6DFC-939D-42E6-BE4A-D1C187BF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17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66717A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DAE50-6D79-42A7-83F1-5745F606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09950"/>
            <a:ext cx="866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8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A2213-65B2-4BB1-A0EC-DF6E1210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718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A2650-02F5-48EC-B47F-EB4330D2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2190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42E8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0F22B-0BB1-425E-8676-2A91CDEF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386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2E8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42E878"/>
                </a:solidFill>
                <a:latin typeface="Menlo"/>
                <a:ea typeface="Menlo"/>
                <a:cs typeface="Menlo"/>
              </a:rPr>
              <a:t>Now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AE7C1D-E0C6-4763-BAAC-CE4150BF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338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Polish public MVP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242C0-4A02-477B-AC1F-372429A7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482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Menu bar routing, source-quality badges, release ZIP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26198-C998-414D-86AC-A444FCCA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718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53F96-7717-4B59-94EE-135BC48B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2190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57E6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C7A328-07CC-4931-B074-719FCEE5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386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7E6E6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7E6E6"/>
                </a:solidFill>
                <a:latin typeface="Menlo"/>
                <a:ea typeface="Menlo"/>
                <a:cs typeface="Menlo"/>
              </a:rPr>
              <a:t>Next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BDCA6E-C5A9-48F8-90DE-44DDB6B5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3338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Trusted distribution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5807E-36B7-44F5-85DC-A76EE704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482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Developer ID signing, notarization, update feed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4D819F-B178-4CE7-B409-73C3AB4C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718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082A35-567A-4B8E-88F3-BC160BB8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2190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F8B7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734D4F-B288-4E2E-80FA-201BFA7F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386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B75D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8B75D"/>
                </a:solidFill>
                <a:latin typeface="Menlo"/>
                <a:ea typeface="Menlo"/>
                <a:cs typeface="Menlo"/>
              </a:rPr>
              <a:t>Then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B60347-4231-4826-A4E8-F7903545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338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Harden live taps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8731D8-2CAA-416B-A789-CE2C858F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482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More app/device coverage, lower latency, better diagnostics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4535BB-C541-41B6-8A07-19993677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718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F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D17B7C-2AE8-49A2-83CC-0ECD1E54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57625"/>
            <a:ext cx="2190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FF5F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8985CC-B34C-4B5E-AA69-46420932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386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F66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F5F66"/>
                </a:solidFill>
                <a:latin typeface="Menlo"/>
                <a:ea typeface="Menlo"/>
                <a:cs typeface="Menlo"/>
              </a:rPr>
              <a:t>Backend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845A51-4210-48C5-9E61-5BBF97BD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338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Production routing engine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097073-ED56-4312-B4A2-BC889984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482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Virtual audio device or server plug-in, processing graph, sync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A5E059-2A81-48D1-87F4-EDE63C5B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714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B75D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8B75D"/>
                </a:solidFill>
                <a:latin typeface="Avenir Next"/>
                <a:ea typeface="Avenir Next"/>
                <a:cs typeface="Avenir Next"/>
              </a:rPr>
              <a:t>Do not hide the backend requirement. Make it the product thesis.</a:t>
            </a:r>
          </a:p>
        </p:txBody>
      </p:sp>
    </p:spTree>
    <p:extLst>
      <p:ext uri="{BB962C8B-B14F-4D97-AF65-F5344CB8AC3E}">
        <p14:creationId xmlns:p14="http://schemas.microsoft.com/office/powerpoint/2010/main" val="14994815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FDAD34-1D57-4C55-B716-51CC3E4A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A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EA4A9-330D-43D5-BD9D-7A31E8F6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0CC41-1BE5-4997-948A-56D2D45D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3329F8AB-925B-48C9-A193-F451DB27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66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43AF4167-D8AA-4F01-A68D-2A96F2AC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B75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8B75D"/>
                </a:solidFill>
                <a:latin typeface="Avenir Next"/>
                <a:ea typeface="Avenir Next"/>
                <a:cs typeface="Avenir Next"/>
              </a:rPr>
              <a:t>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7D2D7-718B-449E-AF81-2093513E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5350"/>
            <a:ext cx="7810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Ship the credible MVP, recruit testers, then build the backend that makes AudioRouter unavoidable.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35714-57CF-4794-B504-03167ED0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57D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57D"/>
                </a:solidFill>
                <a:latin typeface="Avenir Next"/>
                <a:ea typeface="Avenir Next"/>
                <a:cs typeface="Avenir Next"/>
              </a:rPr>
              <a:t>Source: AudioRouter README and CHANGELOG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3CFF81-1258-4F39-BA56-5F91A0B0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17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66717A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ACE83-8519-4987-B724-70EC061C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49530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42E8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FE8F5-70AF-4C8B-A2C6-32104FF4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336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8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F4F7F8"/>
                </a:solidFill>
                <a:latin typeface="Avenir Next"/>
                <a:ea typeface="Avenir Next"/>
                <a:cs typeface="Avenir Next"/>
              </a:rPr>
              <a:t>Launch checklist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1B4B2-F48C-4B84-B33E-5E190912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14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1111CD-7426-4A19-8F24-56FD0D89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670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2E8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42E878"/>
                </a:solidFill>
                <a:latin typeface="Menlo"/>
                <a:ea typeface="Menlo"/>
                <a:cs typeface="Menlo"/>
              </a:rPr>
              <a:t>Release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8B760-115F-4091-BF93-9DB1B9D9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670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Publish notarized ZIP when Developer ID is ready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AEA5A7-EB57-4376-9110-B2763536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A7047A-C5D6-4BEB-9648-17D46D5A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242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2E8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42E878"/>
                </a:solidFill>
                <a:latin typeface="Menlo"/>
                <a:ea typeface="Menlo"/>
                <a:cs typeface="Menlo"/>
              </a:rPr>
              <a:t>Testers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6EC36D-B949-4553-8786-923399AF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242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Creators, streamers, producers, and Mac power users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4EDF72-EF6D-4B1D-97F1-A5702DC7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25DB12-023E-4BA2-A8BE-F5BF8BC0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B75D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8B75D"/>
                </a:solidFill>
                <a:latin typeface="Menlo"/>
                <a:ea typeface="Menlo"/>
                <a:cs typeface="Menlo"/>
              </a:rPr>
              <a:t>Backend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5695C2-C363-4E96-BB9D-6CF9133E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814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Prototype virtual-device routing and sync architecture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1092BF-6358-4897-8EBE-C7FD2595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86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E332DA-38FD-4FA4-BC3F-DFABB7BF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386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2E8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42E878"/>
                </a:solidFill>
                <a:latin typeface="Menlo"/>
                <a:ea typeface="Menlo"/>
                <a:cs typeface="Menlo"/>
              </a:rPr>
              <a:t>Trust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1A6337-EEFC-487D-898D-C4583626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386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Keep unsupported states visible and documented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799365-0611-4AA4-94C2-C41BDD01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3524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57E6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DE3D67-34B1-4712-8F5F-170AA7B0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574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E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D1FC6B-D4BE-4ED6-93AA-76B91844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90775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7E6E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57E6E6"/>
                </a:solidFill>
                <a:latin typeface="Avenir Next"/>
                <a:ea typeface="Avenir Next"/>
                <a:cs typeface="Avenir Next"/>
              </a:rPr>
              <a:t>Positioning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4E6A82-479B-4856-9140-50727C62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86050"/>
            <a:ext cx="3181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A truthful pro-audio control center for macOS: useful now for device control, credible now for experimental routes, built to grow into production app routing.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3823BC-118D-4F79-8AD5-5C270067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352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5"/>
          </a:solidFill>
          <a:ln xmlns:a="http://schemas.openxmlformats.org/drawingml/2006/main" w="9525">
            <a:solidFill>
              <a:srgbClr val="F8B75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A1B21F-1B38-4125-AE70-3FBEB9E0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91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B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513938-3516-41B3-983F-A3CE4138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24325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B75D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8B75D"/>
                </a:solidFill>
                <a:latin typeface="Avenir Next"/>
                <a:ea typeface="Avenir Next"/>
                <a:cs typeface="Avenir Next"/>
              </a:rPr>
              <a:t>Next milestone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B3D4CB-0F8E-4738-A751-CE429896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19600"/>
            <a:ext cx="3181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BA6AE"/>
                </a:solidFill>
                <a:latin typeface="Avenir Next"/>
                <a:ea typeface="Avenir Next"/>
                <a:cs typeface="Avenir Next"/>
              </a:rPr>
              <a:t>Turn the backend from a limitation label into the core moat: reliable per-app routing, synchronized groups, and real effects.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FE48F1-382A-4D16-B36A-E11DD073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76875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7E6E6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57E6E6"/>
                </a:solidFill>
                <a:latin typeface="Menlo"/>
                <a:ea typeface="Menlo"/>
                <a:cs typeface="Menlo"/>
              </a:rPr>
              <a:t>Download: github.com/alanlu439/audiorouter/releases/latest</a:t>
            </a:r>
          </a:p>
        </p:txBody>
      </p:sp>
    </p:spTree>
    <p:extLst>
      <p:ext uri="{BB962C8B-B14F-4D97-AF65-F5344CB8AC3E}">
        <p14:creationId xmlns:p14="http://schemas.microsoft.com/office/powerpoint/2010/main" val="1307817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2026-06-03T04:34:23.0660000Z</dcterms:created>
  <dcterms:modified xsi:type="dcterms:W3CDTF">2026-06-03T04:34:23.0660000Z</dcterms:modified>
</coreProperties>
</file>